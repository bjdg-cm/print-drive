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24384000" cy="13716000"/>
  <p:notesSz cx="6858000" cy="9144000"/>
  <p:embeddedFontLst>
    <p:embeddedFont>
      <p:font typeface="맑은 고딕" panose="020B0503020000020004" pitchFamily="50" charset="-127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387" y="3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E83723-EB1D-4EF4-998E-8D40FB4783C9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C2D179-DAE5-42F6-BB07-A1BA9C96A2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015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안녕하십니까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EECS 20255154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이예준입니다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\\</a:t>
            </a:r>
            <a:b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오늘 저는 “우리는 왜 사이렌이 울리면 멈춰 서야 하는가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?”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다소 직관적인 질문을 화두로 던지면서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우리에게 너무나 익숙하지만 깊이 생각해본 적이 없는 “현충일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묵념이 어떤 의례적 의미를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가지는가”에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대해 이야기해보려 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C2D179-DAE5-42F6-BB07-A1BA9C96A2B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016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주제를 선정한 이유는 타이밍이 아주 적절하기 때문입니다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여러분들도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아시다시피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다다음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주 토요일인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일이 바로 국가 공휴일인 현충일입니다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화면에 보이시는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KBS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뉴스 자료화면처럼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매년 현충일 오전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시가 되면 전국적으로 묵념 경보 사이렌이 울리고 수많은 시민들이 가던 길을 멈추고 고개를 숙입니다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우리는 보통 이를 ‘국가가 지정한 날이니까 당연히 해야 하는 행동’ 정도로 받아들이기 쉽지만 의례사적인 관점에서 보면 이 짧은 순간은 매우 정교하게 기획된 현대적 의례입니다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이번 발표를 통해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묵념의 의미를 명확히 이해하고 나면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다가오는 현충일에 여러분이 직접 이 의례에 동참하실 때 이전과는 완전히 다른 깊이 있는 체험을 하실 수 있을 것이라 생각합니다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C2D179-DAE5-42F6-BB07-A1BA9C96A2B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295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본격적인 분석에 들어가기에 앞서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현충일이라는 날의 제도적 배경을 명확히 짚고 넘어가려고 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현충일은 한자로 나타낼 현 자에 충성 충 자를 써서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국가를 위한 충렬을 널리 드러내는 날이라는 뜻을 가지고 있으며 매년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일로 지정되어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우리가 주목해야 할 점은 현충일이 그저 과거의 비극을 슬퍼하는 날에 그치지 않는다는 사실입니다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법적 정의에 따르면 이날은 호국영령의 명복을 빌고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순국선열과 전몰장병의 숭고한 호국정신과 위훈을 기리는 날입니다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국가를 위해 희생한 이들을 공동체가 공식적이고 제도적인 틀 안에서 기억하는 날입니다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 오전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시가 되면 전국의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읍면동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행정복지센터에서 일제히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분간 사이렌을 울립니다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C2D179-DAE5-42F6-BB07-A1BA9C96A2B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018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그렇다면 여기서 중요한 질문이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떠오르실겁니다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 국가 차원의 의례임에도 단 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분’으로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설정한 것일까요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저희가 이번 학기에 배운 조선시대 전통적인 의례인 ‘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관혼상제’와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비교해 보면 이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분이라는 시간이 얼마나 짧은 시간인지 명확하게 드러납니다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성인식인 관례나 결혼식인 혼례는 실제 의례를 치르는 당일만 해도 수 시간이 걸리고 준비 과정에는 수개월에서 길게는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이상이 소비됩니다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상례의 경우는 무려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27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개월 동안 슬픔의 형식을 유지해야 했고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제례 역시 매년 정기적으로 상당한 시간과 복잡한 절차를 요구했습니다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이처럼 전통적인 의례들은 긴 시간동안 복잡한 절차를 수행하며 예를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실체화했습니다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그런데 현대 국가가 주도하는 현충일 추모 의례는 단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만에 모든 상황이 종료됩니다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그렇다면 이 짧은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분이라는 시간이 어떻게 과거 전통 의례들과 비슷하게 예를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표할수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있는 것일까요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저는 이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분이 결코 가볍거나 생략된 시간이 아니라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현대 사회의 속도에 맞추어 극도로 압축된 의례의 시간이라고 분석했습니다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C2D179-DAE5-42F6-BB07-A1BA9C96A2B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981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그렇다면 이 극도로 압축된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분이라는 시간동안 과연 무엇이 바뀔까요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오전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59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분까지 우리는 대화를 나누고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길을 걷고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각자의 업무를 보며 평범한 일상을 보냅니다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그러다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 정각이 되어 사이렌 신호가 울리는 순간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사람들은 하던 말과 행동을 일시적으로 멈추고 묵념을 수행합니다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분이 지난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분이 되면 다시 아무 일 없었다는 듯 본래의 일상으로 복귀하게 되죠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우리가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깨달아야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하는 핵심은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묵념이 그저 아무것도 하지 않고 멍하니 서서 시간을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흘려보내는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공백이나 정지의 상태가 아니라는 점입니다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오히려 묵념은 일상을 잠시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끊어냄으로써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평범한 일상을 국가 차원의 추모의 시간으로 전환하는 강력하고 적극적인 행위라고 볼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C2D179-DAE5-42F6-BB07-A1BA9C96A2B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156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그렇다면 이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분간의 멈춤을 하나의 명확한 ‘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의례’로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규정할 수 있는 학술적 근거는 무엇일까요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법적 근거를 보면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순국선열과 호국영령에 대한 묵념에서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바른 자세로 눈을 감고 고개를 숙여 예를 표한다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 형식을 정확히 규정하고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행정안전부의 실제 보도자료에서도 현충일 추념식에 맞추어 오전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 정각부터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분간 전국적으로 사이렌을 울린다고 명문화하고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바탕으로 의례학적 요소를 분석해 보면 앞선 발표들과 수업 시간에서도 공통적으로 의례에서 나타난다고 보았던 반복성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상징성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공동체적 수행이 나타납니다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매년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특정 시점에 정기적으로 돌아오는 ‘반복성’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국가가 지정한 시간과 사이렌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고개 숙임이라는 철저한 형식을 따르는 ‘형식성’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침묵과 정지라는 신체 언어로 마음을 표현하는 ‘상징성’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 개인이 임의로 하는 것이 아니라 전 국민이 국가 차원에서 동시에 참여하는 ‘공동체적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수행성’입니다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이러한 요소들이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분이라는 짧은 시간 안에 모두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녹아있기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때문에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현충일 묵념은 완벽한 국가 의례로 작동할 수 있는 것입니다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C2D179-DAE5-42F6-BB07-A1BA9C96A2B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9541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이어서 이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분짜리 묵념 의례가 구체적으로 어떤 구조적 메커니즘을 통해 작동하는지 말씀드리겠습니다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 단계는 ‘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신호’입니다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사이렌 소리가 울려 퍼지는 순간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우리는 일상과 구별되는 시간이 시작되었음을 직관적으로 인지합니다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번째는 ‘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중지’입니다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사이렌을 신호로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행동을 잠시 멈추고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일상의 태도에서 벗어나 의례적 태도로 진입합니다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번째는 ‘예의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표시’입니다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규정에 나온 대로 눈을 감고 고개를 숙이는 물리적 신체 행위를 통해 죽은 이를 향한 존중을 표현합니다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 번째는 ‘대상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환기’의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단계입니다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신체가 통제된 순간 우리의 정신은 순국선열과 호국영령을 공동체의 기억 속에 승화시킵니다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 다섯 번째는 ‘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복귀’입니다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분이 지나면 다시 원래의 일상으로 돌아오지만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우리가 함께 만들어낸 그 추모의 기억과 공동체적 유대감은 우리 사회 내부에 뚜렷하게 남게 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C2D179-DAE5-42F6-BB07-A1BA9C96A2B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263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우리 수업의 맥락에 맞추어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조선시대의 대표적인 국가 의례인 ‘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종묘제례’와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현대 국가의 추모 의례인 ‘현충일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묵념’을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체계적으로 비교해 보면서 현대 의례의 본질을 더 깊이 파헤쳐 보겠습니다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추모 대상과 기능을 비교해 보면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조선의 종묘제례는 왕실의 조상과 국가의 기틀을 대상으로 삼았으며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통해 국왕과 왕조의 정통성을 대내외에 확인시키는 정치적 기능이 핵심이었습니다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반면 현대의 현충일 묵념은 국가와 민주주의를 위해 희생한 순국선열과 호국영령을 대상으로 삼으며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통해 지배층의 권위가 아닌 ‘국가 공동체 전체의 기억과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유대감’을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형성하는 것을 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기능으로 삼습니다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매개 수단의 차이는 더욱 흥미로운데요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종묘제례는 종묘라는 거대하고 신성한 건축 공간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정교한 예법 절차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웅장한 아악과 일무라는 무용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수많은 제물 등 시각적이고 청각적인 복합 매체를 총동원하였습니다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현대의 현충일 묵념은 그러한 외적 물질을 모두 걷어내고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오직 사이렌이라는 음향 신호와 인간의 침묵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고개 숙임이라는 최소한의 신체 행위만을 매개로 삼습니다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과거 전통 국가의례가 장엄하고 화려한 형식주의 미학을 통해 왕조의 권위를 결속시켰다면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현대의 국가추모의례는 극도로 단순하고 동시적인 미학을 통해 우리 눈에 보이지 않는 대한민국이라는 국가 공동체의 기억을 수평적으로 남기는 방식이라고 정리할 수 있겠습니다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C2D179-DAE5-42F6-BB07-A1BA9C96A2B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5492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그렇다면 현대 사회의 의례들은 왜 이토록 단순한 형태로 변화했을까요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현충일 묵념을 통해 알 수 있는 현대 의례의 독특한 특징 네 가지를 살펴보겠습니다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 특징은 ‘참여 문턱이 극도로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낮다’는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점입니다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전통 예법처럼 복잡한 한문 지식이나 제사상을 차리는 물질적 준비가 전혀 필요 없기 때문에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아이부터 어른까지 누구나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분만 시간을 내면 의례에 참여할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번째는 ‘장소의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무관성’입니다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종묘나 사당에 모이지 않더라도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집안 등 어디에서나 의례를 수행할 수 있어 장소의 제약이 사라졌습니다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번째는 공간보다 ‘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동시성’이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핵심이 되었다는 점입니다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과거에는 같은 공간에 물리적으로 모여 얼굴을 마주하는 것이 중요했다면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현대 의례는 서로 다른 공간에 흩어져 있더라도 ‘같은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시간’에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다 함께 행동을 멈춘다는 그 동시성 자체가 연대감을 만들어내는 것입니다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 네 번째는 매체가 신호 역할을 수행한다는 점입니다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전통 의례에서 절차를 이끌던 사람 역할을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현대에는 사이렌이나 라디오 방송 같은 미디어가 대신하여 전 국민에게 의례의 시작을 선언합니다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결론적으로 현대 의례는 복잡한 절차와 외적 형식은 대폭 축소되었지만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매체 기술을 활용한 동시성과 공간적 확산성은 오히려 전통 사회보다 훨씬 더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강력해졌다고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볼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C2D179-DAE5-42F6-BB07-A1BA9C96A2B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364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우리가 반드시 짚고 넘어가야 할 비판적인 질문이 존재합니다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그것은 바로 “과연 사이렌이 울릴 때 멈춰 서는 전 국민이 모두 완전히 진심 어린 마음으로 추모에 참여하는가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?”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의문입니다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발표 자료의 다이어그램을 보시면 아시겠지만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현실은 결코 그렇지 않습니다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이들은 진심 어린 감사와 추모의 마음을 담아 묵념을 하겠지만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다른 어떤 이들은 어릴 때부터 교육받아온 대로 그저 습관적이고 관습적으로 참여할 수도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심지어 국가나 역사에 대해 다소 무관심하거나 거리감을 느끼면서도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주변 사람들의 시선이나 사회적 분위기 때문에 마지못해 잠시 발걸음을 멈추는 이들도 분명 존재할 것입니다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그러나 참여자들의 내면이 다르다고 의례가 가진 가치가 사라지는 것이 아닙니다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저는 오히려 이것이 의례가 가진 가장 큰 본질이라고 생각합니다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의례라는 것은 참여하는 모든 구성원의 내면 감정까지 완벽하게 일치해야만 성립하는 규범이 아닙니다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감정이 서로 다른 수많은 개인들이라 할지라도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약속된 ‘같은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시간’에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약속된 ‘같은 신체적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형식’을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공유하며 거대한 하나의 추모 장면을 함께 만든다는 사실 자체가 가장 중요한 가치를 지니는 것입니다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C2D179-DAE5-42F6-BB07-A1BA9C96A2B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2469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결국 발표를 통해 하고 싶었던 말은 이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분이 짧지만 가벼운 시간이 아니라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현대 사회의 속도와 효율성에 맞추어 진화한 가장 밀도 높은 형태의 국가추모의례라는 것입니다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다가오는 이번 현충일 오전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여러분의 귀에 추모 사이렌 소리가 울려 퍼진다면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그저 해야 하니까 습관적으로 발걸음을 멈추기보다는 오늘 우리가 함께 논의했던 이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분이라는 시간이 지닌 거대한 의례적 무게감과 압축된 가치를 마음속으로 깊이 되새겨 보셨으면 좋겠습니다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분은 단순한 침묵이 아니라 우리가 다 함께 삶의 한 부분을 경건하게 비워두는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세상에서 가장 아름답고 가치 있는 시간이기 때문입니다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C2D179-DAE5-42F6-BB07-A1BA9C96A2B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04179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이상으로 현대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국가추모의례로서의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현충일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 묵념에 대한 발표를 모두 마치겠습니다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감사합니다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C2D179-DAE5-42F6-BB07-A1BA9C96A2B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6326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18" Type="http://schemas.openxmlformats.org/officeDocument/2006/relationships/image" Target="../media/image42.png"/><Relationship Id="rId3" Type="http://schemas.openxmlformats.org/officeDocument/2006/relationships/image" Target="../media/image51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58.png"/><Relationship Id="rId5" Type="http://schemas.openxmlformats.org/officeDocument/2006/relationships/image" Target="../media/image53.png"/><Relationship Id="rId15" Type="http://schemas.openxmlformats.org/officeDocument/2006/relationships/image" Target="../media/image62.png"/><Relationship Id="rId10" Type="http://schemas.openxmlformats.org/officeDocument/2006/relationships/image" Target="../media/image57.png"/><Relationship Id="rId19" Type="http://schemas.openxmlformats.org/officeDocument/2006/relationships/image" Target="../media/image65.png"/><Relationship Id="rId4" Type="http://schemas.openxmlformats.org/officeDocument/2006/relationships/image" Target="../media/image52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18" Type="http://schemas.openxmlformats.org/officeDocument/2006/relationships/image" Target="../media/image81.png"/><Relationship Id="rId26" Type="http://schemas.openxmlformats.org/officeDocument/2006/relationships/image" Target="../media/image40.png"/><Relationship Id="rId3" Type="http://schemas.openxmlformats.org/officeDocument/2006/relationships/image" Target="../media/image66.png"/><Relationship Id="rId21" Type="http://schemas.openxmlformats.org/officeDocument/2006/relationships/image" Target="../media/image84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5" Type="http://schemas.openxmlformats.org/officeDocument/2006/relationships/image" Target="../media/image88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79.png"/><Relationship Id="rId20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24" Type="http://schemas.openxmlformats.org/officeDocument/2006/relationships/image" Target="../media/image87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23" Type="http://schemas.openxmlformats.org/officeDocument/2006/relationships/image" Target="../media/image86.png"/><Relationship Id="rId10" Type="http://schemas.openxmlformats.org/officeDocument/2006/relationships/image" Target="../media/image73.png"/><Relationship Id="rId19" Type="http://schemas.openxmlformats.org/officeDocument/2006/relationships/image" Target="../media/image82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Relationship Id="rId22" Type="http://schemas.openxmlformats.org/officeDocument/2006/relationships/image" Target="../media/image85.png"/><Relationship Id="rId27" Type="http://schemas.openxmlformats.org/officeDocument/2006/relationships/image" Target="../media/image8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18" Type="http://schemas.openxmlformats.org/officeDocument/2006/relationships/image" Target="../media/image104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17" Type="http://schemas.openxmlformats.org/officeDocument/2006/relationships/image" Target="../media/image10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02.png"/><Relationship Id="rId20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5" Type="http://schemas.openxmlformats.org/officeDocument/2006/relationships/image" Target="../media/image40.png"/><Relationship Id="rId10" Type="http://schemas.openxmlformats.org/officeDocument/2006/relationships/image" Target="../media/image97.png"/><Relationship Id="rId19" Type="http://schemas.openxmlformats.org/officeDocument/2006/relationships/image" Target="../media/image105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12" Type="http://schemas.openxmlformats.org/officeDocument/2006/relationships/image" Target="../media/image1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11" Type="http://schemas.openxmlformats.org/officeDocument/2006/relationships/image" Target="../media/image115.png"/><Relationship Id="rId5" Type="http://schemas.openxmlformats.org/officeDocument/2006/relationships/image" Target="../media/image109.png"/><Relationship Id="rId10" Type="http://schemas.openxmlformats.org/officeDocument/2006/relationships/image" Target="../media/image114.png"/><Relationship Id="rId4" Type="http://schemas.openxmlformats.org/officeDocument/2006/relationships/image" Target="../media/image108.png"/><Relationship Id="rId9" Type="http://schemas.openxmlformats.org/officeDocument/2006/relationships/image" Target="../media/image1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100" y="4064000"/>
            <a:ext cx="15481300" cy="4178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0300" y="6997700"/>
            <a:ext cx="5791200" cy="685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1900" y="8242300"/>
            <a:ext cx="2882900" cy="596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1900" y="8826500"/>
            <a:ext cx="4495800" cy="596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400" y="5905500"/>
            <a:ext cx="10617200" cy="5969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1435100"/>
            <a:ext cx="4089400" cy="1714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800" y="1435100"/>
            <a:ext cx="6870700" cy="812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0500" y="3581400"/>
            <a:ext cx="11303000" cy="1384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79900" y="13004800"/>
            <a:ext cx="11303000" cy="482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3200" y="3340100"/>
            <a:ext cx="9410700" cy="393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300" y="1447800"/>
            <a:ext cx="2260600" cy="171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" y="1435100"/>
            <a:ext cx="6870700" cy="81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3900" y="2730500"/>
            <a:ext cx="18440400" cy="4178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2800" y="7391400"/>
            <a:ext cx="18364200" cy="685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64000" y="13004800"/>
            <a:ext cx="11303000" cy="482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1700" y="8915400"/>
            <a:ext cx="1104900" cy="977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1900" y="8928100"/>
            <a:ext cx="18440400" cy="1930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05400" y="10858500"/>
            <a:ext cx="91567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498600"/>
            <a:ext cx="16319500" cy="139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9700" y="3314700"/>
            <a:ext cx="1917700" cy="95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8400" y="3314700"/>
            <a:ext cx="4673600" cy="952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28700" y="3314700"/>
            <a:ext cx="2019300" cy="952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16600" y="3314700"/>
            <a:ext cx="1917700" cy="952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9700" y="4267200"/>
            <a:ext cx="1917700" cy="635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0000" y="4267200"/>
            <a:ext cx="1917700" cy="635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43000" y="4267200"/>
            <a:ext cx="1917700" cy="635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656300" y="4267200"/>
            <a:ext cx="1917700" cy="635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40700" y="7480300"/>
            <a:ext cx="8089900" cy="4737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935200" y="13004800"/>
            <a:ext cx="113030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3500" y="4610100"/>
            <a:ext cx="3746500" cy="1866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6100" y="4927600"/>
            <a:ext cx="2794000" cy="1257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900" y="4889500"/>
            <a:ext cx="2959100" cy="1473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1900" y="5130800"/>
            <a:ext cx="2209800" cy="990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30500" y="4876800"/>
            <a:ext cx="2984500" cy="1485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811500" y="5118100"/>
            <a:ext cx="2222500" cy="1003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50100" y="4889500"/>
            <a:ext cx="2984500" cy="1485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231100" y="5130800"/>
            <a:ext cx="2222500" cy="1003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9900" y="4876800"/>
            <a:ext cx="2984500" cy="1485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20900" y="5118100"/>
            <a:ext cx="2222500" cy="1003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1400" y="5270500"/>
            <a:ext cx="850900" cy="850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18600" y="5257800"/>
            <a:ext cx="850900" cy="850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363700" y="5257800"/>
            <a:ext cx="850900" cy="850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719800" y="5257800"/>
            <a:ext cx="850900" cy="850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95400" y="1435100"/>
            <a:ext cx="6870700" cy="812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51000" y="1435100"/>
            <a:ext cx="6159500" cy="1714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35700" y="8801100"/>
            <a:ext cx="11722100" cy="2082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51600" y="9144000"/>
            <a:ext cx="113030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100" y="1435100"/>
            <a:ext cx="6845300" cy="171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1435100"/>
            <a:ext cx="6870700" cy="81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3700" y="4356100"/>
            <a:ext cx="9753600" cy="1117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4559300"/>
            <a:ext cx="11303000" cy="698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5943600"/>
            <a:ext cx="9753600" cy="4826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77800" y="4356100"/>
            <a:ext cx="9753600" cy="1117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77800" y="5943600"/>
            <a:ext cx="9753600" cy="4826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03100" y="4559300"/>
            <a:ext cx="11303000" cy="698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06600" y="6743700"/>
            <a:ext cx="9055100" cy="3162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169900" y="6223000"/>
            <a:ext cx="93218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800" y="6146800"/>
            <a:ext cx="3568700" cy="177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100" y="6540500"/>
            <a:ext cx="3340100" cy="990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5300" y="6413500"/>
            <a:ext cx="812800" cy="812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5700" y="9372600"/>
            <a:ext cx="11722100" cy="2082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1600" y="9715500"/>
            <a:ext cx="11303000" cy="1384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4800" y="4978400"/>
            <a:ext cx="3568700" cy="1041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2000" y="5207000"/>
            <a:ext cx="2654300" cy="596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200" y="6146800"/>
            <a:ext cx="3568700" cy="1778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88000" y="6540500"/>
            <a:ext cx="3479800" cy="990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7200" y="4978400"/>
            <a:ext cx="3568700" cy="1041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94400" y="5207000"/>
            <a:ext cx="2654300" cy="1193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700" y="6413500"/>
            <a:ext cx="812800" cy="812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146800"/>
            <a:ext cx="3568700" cy="1778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6100" y="6540500"/>
            <a:ext cx="3479800" cy="990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8000" y="4978400"/>
            <a:ext cx="3568700" cy="1041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5200" y="5207000"/>
            <a:ext cx="2654300" cy="596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7300" y="6146800"/>
            <a:ext cx="3568700" cy="1778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396200" y="6604000"/>
            <a:ext cx="3403600" cy="8509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27800" y="6413500"/>
            <a:ext cx="812800" cy="8128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307300" y="4978400"/>
            <a:ext cx="3568700" cy="1041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764500" y="5207000"/>
            <a:ext cx="2654300" cy="596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2400" y="6146800"/>
            <a:ext cx="3568700" cy="17780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506700" y="6540500"/>
            <a:ext cx="3340100" cy="8509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92400" y="4978400"/>
            <a:ext cx="3568700" cy="10414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849600" y="5207000"/>
            <a:ext cx="2654300" cy="5969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00200" y="6413500"/>
            <a:ext cx="812800" cy="8128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08100" y="1435100"/>
            <a:ext cx="6845300" cy="17145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95400" y="1435100"/>
            <a:ext cx="6870700" cy="812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100" y="1435100"/>
            <a:ext cx="9969500" cy="171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1435100"/>
            <a:ext cx="9994900" cy="81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4200" y="2997200"/>
            <a:ext cx="2870200" cy="1003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1900" y="3098800"/>
            <a:ext cx="1574800" cy="812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2900" y="2997200"/>
            <a:ext cx="6896100" cy="1003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3098800"/>
            <a:ext cx="3594100" cy="812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300200" y="2997200"/>
            <a:ext cx="6896100" cy="1003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960600" y="3098800"/>
            <a:ext cx="5575300" cy="812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24200" y="4241800"/>
            <a:ext cx="2870200" cy="1397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41700" y="4533900"/>
            <a:ext cx="2222500" cy="812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92900" y="4241800"/>
            <a:ext cx="6896100" cy="1397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83400" y="4533900"/>
            <a:ext cx="6527800" cy="812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300200" y="4241800"/>
            <a:ext cx="6896100" cy="1397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430500" y="4241800"/>
            <a:ext cx="4762500" cy="1397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49600" y="5930900"/>
            <a:ext cx="2870200" cy="1397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79800" y="6223000"/>
            <a:ext cx="2222500" cy="8128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31000" y="5930900"/>
            <a:ext cx="6896100" cy="1397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08800" y="6223000"/>
            <a:ext cx="6527800" cy="8128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325600" y="5930900"/>
            <a:ext cx="6896100" cy="1397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300200" y="6210300"/>
            <a:ext cx="6858000" cy="8128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49600" y="7632700"/>
            <a:ext cx="2870200" cy="13970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479800" y="7912100"/>
            <a:ext cx="2222500" cy="812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31000" y="7632700"/>
            <a:ext cx="6896100" cy="13970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08800" y="7912100"/>
            <a:ext cx="6527800" cy="8128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325600" y="7632700"/>
            <a:ext cx="6896100" cy="13970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706600" y="8001000"/>
            <a:ext cx="6223000" cy="6604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87700" y="9321800"/>
            <a:ext cx="2870200" cy="13970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17900" y="9652000"/>
            <a:ext cx="2222500" cy="6731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69100" y="9321800"/>
            <a:ext cx="6896100" cy="13970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46900" y="9613900"/>
            <a:ext cx="6527800" cy="8128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363700" y="9321800"/>
            <a:ext cx="6896100" cy="13970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011400" y="9613900"/>
            <a:ext cx="5600700" cy="8128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37300" y="11303000"/>
            <a:ext cx="11722100" cy="20828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51600" y="11645900"/>
            <a:ext cx="114681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100" y="1435100"/>
            <a:ext cx="6007100" cy="171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33400" y="1435100"/>
            <a:ext cx="9994900" cy="81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6600" y="3225800"/>
            <a:ext cx="9677400" cy="1130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3378200"/>
            <a:ext cx="5473700" cy="800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6600" y="4610100"/>
            <a:ext cx="9677400" cy="1562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5700" y="4699000"/>
            <a:ext cx="6311900" cy="1371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87300" y="3238500"/>
            <a:ext cx="9677400" cy="1130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95500" y="3403600"/>
            <a:ext cx="5473700" cy="800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87300" y="4622800"/>
            <a:ext cx="9677400" cy="1562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058900" y="4699000"/>
            <a:ext cx="6934200" cy="1371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6600" y="7023100"/>
            <a:ext cx="9677400" cy="1130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14800" y="7188200"/>
            <a:ext cx="5473700" cy="800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6600" y="8407400"/>
            <a:ext cx="9677400" cy="1562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63900" y="8851900"/>
            <a:ext cx="7175500" cy="685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87300" y="7035800"/>
            <a:ext cx="9677400" cy="11303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795500" y="7200900"/>
            <a:ext cx="5473700" cy="800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87300" y="8432800"/>
            <a:ext cx="9677400" cy="15621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919200" y="8851900"/>
            <a:ext cx="7188200" cy="6858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37300" y="11303000"/>
            <a:ext cx="11722100" cy="20828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40500" y="11645900"/>
            <a:ext cx="11303000" cy="13335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792200" y="7150100"/>
            <a:ext cx="952500" cy="9525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162300" y="7112000"/>
            <a:ext cx="952500" cy="9525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5400" y="3378200"/>
            <a:ext cx="952500" cy="8763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744700" y="3340100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3900" y="3403600"/>
            <a:ext cx="5168900" cy="1981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700" y="3937000"/>
            <a:ext cx="53086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100" y="3403600"/>
            <a:ext cx="5168900" cy="1981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1600" y="3937000"/>
            <a:ext cx="5308600" cy="901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0" y="3403600"/>
            <a:ext cx="5168900" cy="1981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46500" y="3937000"/>
            <a:ext cx="5308600" cy="901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8100" y="1435100"/>
            <a:ext cx="10883900" cy="1714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5400" y="1473200"/>
            <a:ext cx="10896600" cy="812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05100" y="6311900"/>
            <a:ext cx="18973800" cy="1079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54800" y="6413500"/>
            <a:ext cx="11074400" cy="901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05100" y="7874000"/>
            <a:ext cx="18973800" cy="2641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81300" y="8483600"/>
            <a:ext cx="18834100" cy="1422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100" y="3492500"/>
            <a:ext cx="19951700" cy="6743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5791200"/>
            <a:ext cx="239776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900" y="3149600"/>
            <a:ext cx="19519900" cy="6489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435100"/>
            <a:ext cx="3276600" cy="1714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473200"/>
            <a:ext cx="3479800" cy="812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1463</Words>
  <Application>Microsoft Office PowerPoint</Application>
  <PresentationFormat>사용자 지정</PresentationFormat>
  <Paragraphs>24</Paragraphs>
  <Slides>13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Calibri</vt:lpstr>
      <vt:lpstr>Arial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이예준</cp:lastModifiedBy>
  <cp:revision>2</cp:revision>
  <dcterms:created xsi:type="dcterms:W3CDTF">2006-08-16T00:00:00Z</dcterms:created>
  <dcterms:modified xsi:type="dcterms:W3CDTF">2026-05-20T17:53:16Z</dcterms:modified>
</cp:coreProperties>
</file>